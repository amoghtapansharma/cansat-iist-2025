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2" r:id="rId6"/>
    <p:sldId id="260" r:id="rId7"/>
    <p:sldId id="268" r:id="rId8"/>
    <p:sldId id="261" r:id="rId9"/>
    <p:sldId id="269" r:id="rId10"/>
    <p:sldId id="262" r:id="rId11"/>
    <p:sldId id="263" r:id="rId12"/>
    <p:sldId id="264" r:id="rId13"/>
    <p:sldId id="271" r:id="rId14"/>
    <p:sldId id="265" r:id="rId15"/>
    <p:sldId id="266" r:id="rId16"/>
    <p:sldId id="267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76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2T14:09:59.75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2T14:10:09.93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1,'4144'0,"-4125"0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2T14:10:13.99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1,'3615'0,"-3569"0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2T14:10:16.95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1,'3376'0,"-3326"0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2T14:10:23.84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4316 1,'-4291'0,"4267"0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2T14:10:31.41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3760 1,'-3736'0,"3712"0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2T14:10:35.72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1572 0,'-1550'0,"1528"0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2T14:10:41.82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2362 1003,'-2342'-994,"2322"986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2T14:10:51.81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1,'0'0,"15"0,2705 0,-2704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2T14:10:54.99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1,'4297'0,"-4276"0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2T14:10:59.42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0,'7422'0,"-7402"0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2T14:11:04.64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0,'3913'0,"-3892"0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2T14:11:10.93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1,'5978'0,"-5945"0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2T14:11:18.29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0,'8223'0,"-8233"0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2T14:11:32.36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3733 1,'-3710'0,"3688"0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2T14:11:36.89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3910 1,'-3846'0,"3783"0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2T09:53:11.17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0,'2260'0,"-2238"0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2T09:53:19.34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2665 0,'-2643'0,"2621"0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2T09:53:25.55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0,'2626'0,"-2609"0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2T09:53:30.29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0,'3532'0,"-3509"0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2T09:53:49.68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1,'2445'747,"-2429"-742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2T09:53:57.34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184 56,'1628'498,"-3418"-1045,1769 540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2T09:54:10.42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0 421,'1022'-413,"-1002"405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2T09:54:17.19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1239 0,'-1217'492,"1196"-484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2T10:10:19.42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3425 0,'-3398'0,"3371"0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2T10:10:26.32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0,'6554'0,"-6532"0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2T10:10:30.47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0,'3405'0,"-3383"0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2T10:10:36.97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3910 0,'-3888'0,"3867"0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2T10:10:44.48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6906 1,'-6883'0,"6861"0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2T10:10:49.49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2563 0,'139'0,"-2819"0,2658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2T10:10:52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70 24575,'-4'0'0,"-2"-5"0,-3-5 0,-1-6 0,1-4 0,3 2-8191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openxmlformats.org/officeDocument/2006/relationships/customXml" Target="../ink/ink7.xml"/><Relationship Id="rId26" Type="http://schemas.openxmlformats.org/officeDocument/2006/relationships/image" Target="../media/image14.png"/><Relationship Id="rId3" Type="http://schemas.openxmlformats.org/officeDocument/2006/relationships/image" Target="../media/image2.png"/><Relationship Id="rId21" Type="http://schemas.openxmlformats.org/officeDocument/2006/relationships/image" Target="../media/image12.png"/><Relationship Id="rId34" Type="http://schemas.openxmlformats.org/officeDocument/2006/relationships/image" Target="../media/image18.png"/><Relationship Id="rId7" Type="http://schemas.openxmlformats.org/officeDocument/2006/relationships/image" Target="../media/image5.png"/><Relationship Id="rId12" Type="http://schemas.openxmlformats.org/officeDocument/2006/relationships/customXml" Target="../ink/ink4.xml"/><Relationship Id="rId17" Type="http://schemas.openxmlformats.org/officeDocument/2006/relationships/image" Target="../media/image10.png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2" Type="http://schemas.openxmlformats.org/officeDocument/2006/relationships/image" Target="../media/image1.png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29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image" Target="../media/image7.png"/><Relationship Id="rId24" Type="http://schemas.openxmlformats.org/officeDocument/2006/relationships/customXml" Target="../ink/ink10.xml"/><Relationship Id="rId32" Type="http://schemas.openxmlformats.org/officeDocument/2006/relationships/image" Target="../media/image17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image" Target="../media/image15.png"/><Relationship Id="rId36" Type="http://schemas.openxmlformats.org/officeDocument/2006/relationships/image" Target="../media/image19.png"/><Relationship Id="rId10" Type="http://schemas.openxmlformats.org/officeDocument/2006/relationships/customXml" Target="../ink/ink3.xml"/><Relationship Id="rId19" Type="http://schemas.openxmlformats.org/officeDocument/2006/relationships/image" Target="../media/image11.png"/><Relationship Id="rId31" Type="http://schemas.openxmlformats.org/officeDocument/2006/relationships/customXml" Target="../ink/ink14.xml"/><Relationship Id="rId4" Type="http://schemas.openxmlformats.org/officeDocument/2006/relationships/image" Target="../media/image3.png"/><Relationship Id="rId9" Type="http://schemas.openxmlformats.org/officeDocument/2006/relationships/image" Target="../media/image6.png"/><Relationship Id="rId14" Type="http://schemas.openxmlformats.org/officeDocument/2006/relationships/customXml" Target="../ink/ink5.xml"/><Relationship Id="rId22" Type="http://schemas.openxmlformats.org/officeDocument/2006/relationships/customXml" Target="../ink/ink9.xml"/><Relationship Id="rId27" Type="http://schemas.openxmlformats.org/officeDocument/2006/relationships/customXml" Target="../ink/ink12.xml"/><Relationship Id="rId30" Type="http://schemas.openxmlformats.org/officeDocument/2006/relationships/image" Target="../media/image16.png"/><Relationship Id="rId35" Type="http://schemas.openxmlformats.org/officeDocument/2006/relationships/customXml" Target="../ink/ink16.xml"/><Relationship Id="rId8" Type="http://schemas.openxmlformats.org/officeDocument/2006/relationships/customXml" Target="../ink/ink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13" Type="http://schemas.openxmlformats.org/officeDocument/2006/relationships/image" Target="../media/image26.png"/><Relationship Id="rId18" Type="http://schemas.openxmlformats.org/officeDocument/2006/relationships/customXml" Target="../ink/ink24.xml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12" Type="http://schemas.openxmlformats.org/officeDocument/2006/relationships/customXml" Target="../ink/ink21.xml"/><Relationship Id="rId17" Type="http://schemas.openxmlformats.org/officeDocument/2006/relationships/image" Target="../media/image28.png"/><Relationship Id="rId2" Type="http://schemas.openxmlformats.org/officeDocument/2006/relationships/image" Target="../media/image20.png"/><Relationship Id="rId16" Type="http://schemas.openxmlformats.org/officeDocument/2006/relationships/customXml" Target="../ink/ink23.xml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.xml"/><Relationship Id="rId11" Type="http://schemas.openxmlformats.org/officeDocument/2006/relationships/image" Target="../media/image25.png"/><Relationship Id="rId5" Type="http://schemas.openxmlformats.org/officeDocument/2006/relationships/image" Target="../media/image22.png"/><Relationship Id="rId15" Type="http://schemas.openxmlformats.org/officeDocument/2006/relationships/image" Target="../media/image27.png"/><Relationship Id="rId10" Type="http://schemas.openxmlformats.org/officeDocument/2006/relationships/customXml" Target="../ink/ink20.xml"/><Relationship Id="rId19" Type="http://schemas.openxmlformats.org/officeDocument/2006/relationships/image" Target="../media/image29.png"/><Relationship Id="rId4" Type="http://schemas.openxmlformats.org/officeDocument/2006/relationships/customXml" Target="../ink/ink17.xml"/><Relationship Id="rId9" Type="http://schemas.openxmlformats.org/officeDocument/2006/relationships/image" Target="../media/image24.png"/><Relationship Id="rId14" Type="http://schemas.openxmlformats.org/officeDocument/2006/relationships/customXml" Target="../ink/ink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8.xml"/><Relationship Id="rId13" Type="http://schemas.openxmlformats.org/officeDocument/2006/relationships/image" Target="../media/image34.png"/><Relationship Id="rId3" Type="http://schemas.openxmlformats.org/officeDocument/2006/relationships/customXml" Target="../ink/ink25.xml"/><Relationship Id="rId7" Type="http://schemas.openxmlformats.org/officeDocument/2006/relationships/customXml" Target="../ink/ink27.xml"/><Relationship Id="rId12" Type="http://schemas.openxmlformats.org/officeDocument/2006/relationships/customXml" Target="../ink/ink30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3.png"/><Relationship Id="rId5" Type="http://schemas.openxmlformats.org/officeDocument/2006/relationships/customXml" Target="../ink/ink26.xml"/><Relationship Id="rId15" Type="http://schemas.openxmlformats.org/officeDocument/2006/relationships/image" Target="../media/image35.png"/><Relationship Id="rId10" Type="http://schemas.openxmlformats.org/officeDocument/2006/relationships/customXml" Target="../ink/ink29.xml"/><Relationship Id="rId4" Type="http://schemas.openxmlformats.org/officeDocument/2006/relationships/image" Target="../media/image8.png"/><Relationship Id="rId9" Type="http://schemas.openxmlformats.org/officeDocument/2006/relationships/image" Target="../media/image19.png"/><Relationship Id="rId14" Type="http://schemas.openxmlformats.org/officeDocument/2006/relationships/customXml" Target="../ink/ink3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CanSat 2025 Design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Team Name: </a:t>
            </a:r>
            <a:r>
              <a:rPr lang="en-IN" dirty="0" err="1"/>
              <a:t>Energygo</a:t>
            </a:r>
            <a:endParaRPr lang="en-IN" dirty="0"/>
          </a:p>
          <a:p>
            <a:r>
              <a:rPr dirty="0"/>
              <a:t>Institution: MIT Manipal</a:t>
            </a:r>
          </a:p>
          <a:p>
            <a:r>
              <a:rPr dirty="0"/>
              <a:t>Event: </a:t>
            </a:r>
            <a:r>
              <a:rPr dirty="0" err="1"/>
              <a:t>CanSat</a:t>
            </a:r>
            <a:r>
              <a:rPr dirty="0"/>
              <a:t> 2025 (IIST)</a:t>
            </a:r>
          </a:p>
          <a:p>
            <a:r>
              <a:rPr dirty="0"/>
              <a:t>Date: </a:t>
            </a:r>
            <a:r>
              <a:rPr lang="en-IN" dirty="0"/>
              <a:t>12.10.2025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dirty="0"/>
          </a:p>
          <a:p>
            <a:pPr>
              <a:spcAft>
                <a:spcPts val="600"/>
              </a:spcAft>
            </a:pPr>
            <a:r>
              <a:rPr dirty="0"/>
              <a:t>Goal: Capture stabilized video and environmental data during descent.</a:t>
            </a:r>
          </a:p>
          <a:p>
            <a:pPr>
              <a:spcAft>
                <a:spcPts val="600"/>
              </a:spcAft>
            </a:pPr>
            <a:r>
              <a:rPr dirty="0"/>
              <a:t>Deployment: Drone release from 100 m altitude.</a:t>
            </a:r>
          </a:p>
          <a:p>
            <a:pPr>
              <a:spcAft>
                <a:spcPts val="600"/>
              </a:spcAft>
            </a:pPr>
            <a:r>
              <a:rPr dirty="0"/>
              <a:t>Payload: OV7670 Camera with vibration isolator.</a:t>
            </a:r>
          </a:p>
          <a:p>
            <a:pPr>
              <a:spcAft>
                <a:spcPts val="600"/>
              </a:spcAft>
            </a:pPr>
            <a:r>
              <a:rPr dirty="0"/>
              <a:t>Sensors: DHT22, MPU6050, DS1307 RTC, microSD for logging.</a:t>
            </a:r>
          </a:p>
          <a:p>
            <a:pPr>
              <a:spcAft>
                <a:spcPts val="600"/>
              </a:spcAft>
            </a:pPr>
            <a:r>
              <a:rPr dirty="0"/>
              <a:t>Parachute: 90 cm </a:t>
            </a:r>
            <a:r>
              <a:rPr lang="en-IN" dirty="0"/>
              <a:t>cotton cloth</a:t>
            </a:r>
            <a:r>
              <a:rPr dirty="0"/>
              <a:t> canopy, 30 cm cords, autonomous servo release.</a:t>
            </a:r>
          </a:p>
          <a:p>
            <a:pPr>
              <a:spcAft>
                <a:spcPts val="600"/>
              </a:spcAft>
            </a:pPr>
            <a:r>
              <a:rPr dirty="0"/>
              <a:t>Mass: 650 g (approx.), within 700 g limit.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spcAft>
                <a:spcPts val="600"/>
              </a:spcAft>
            </a:pPr>
            <a:r>
              <a:rPr dirty="0"/>
              <a:t>Arduino Uno as central MCU controlling:</a:t>
            </a:r>
          </a:p>
          <a:p>
            <a:pPr>
              <a:spcAft>
                <a:spcPts val="600"/>
              </a:spcAft>
            </a:pPr>
            <a:r>
              <a:rPr dirty="0"/>
              <a:t> - DHT22 (Temp/Humidity) through side ventilation holes</a:t>
            </a:r>
          </a:p>
          <a:p>
            <a:pPr>
              <a:spcAft>
                <a:spcPts val="600"/>
              </a:spcAft>
            </a:pPr>
            <a:r>
              <a:rPr dirty="0"/>
              <a:t> - MPU6050 (</a:t>
            </a:r>
            <a:r>
              <a:rPr dirty="0" err="1"/>
              <a:t>Accel+Gyro</a:t>
            </a:r>
            <a:r>
              <a:rPr dirty="0"/>
              <a:t>) for release detection and flight dynamics</a:t>
            </a:r>
          </a:p>
          <a:p>
            <a:pPr>
              <a:spcAft>
                <a:spcPts val="600"/>
              </a:spcAft>
            </a:pPr>
            <a:r>
              <a:rPr dirty="0"/>
              <a:t> - DS1307 RTC for timing and failsafe deployment</a:t>
            </a:r>
          </a:p>
          <a:p>
            <a:pPr>
              <a:spcAft>
                <a:spcPts val="600"/>
              </a:spcAft>
            </a:pPr>
            <a:r>
              <a:rPr dirty="0"/>
              <a:t> - OV7670 Camera for video capture</a:t>
            </a:r>
          </a:p>
          <a:p>
            <a:pPr>
              <a:spcAft>
                <a:spcPts val="600"/>
              </a:spcAft>
            </a:pPr>
            <a:r>
              <a:rPr dirty="0"/>
              <a:t> - microSD module for logging data</a:t>
            </a:r>
          </a:p>
          <a:p>
            <a:pPr>
              <a:spcAft>
                <a:spcPts val="600"/>
              </a:spcAft>
            </a:pPr>
            <a:r>
              <a:rPr dirty="0"/>
              <a:t>Power: Li-Po </a:t>
            </a:r>
            <a:endParaRPr lang="en-IN" dirty="0"/>
          </a:p>
          <a:p>
            <a:pPr>
              <a:spcAft>
                <a:spcPts val="600"/>
              </a:spcAft>
            </a:pPr>
            <a:r>
              <a:rPr dirty="0"/>
              <a:t>Servo control signal to parachute section for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Mechanical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spcAft>
                <a:spcPts val="600"/>
              </a:spcAft>
            </a:pPr>
            <a:r>
              <a:rPr dirty="0"/>
              <a:t>Body shape: Trapezoidal (frustum) for stability</a:t>
            </a:r>
          </a:p>
          <a:p>
            <a:pPr>
              <a:spcAft>
                <a:spcPts val="600"/>
              </a:spcAft>
            </a:pPr>
            <a:r>
              <a:rPr dirty="0"/>
              <a:t>Top Ø 10 cm, Bottom Ø 8.5 cm, Total height ≈ </a:t>
            </a:r>
            <a:r>
              <a:rPr lang="en-IN" dirty="0"/>
              <a:t>200</a:t>
            </a:r>
            <a:r>
              <a:rPr dirty="0"/>
              <a:t> mm</a:t>
            </a:r>
            <a:endParaRPr lang="en-IN" dirty="0"/>
          </a:p>
          <a:p>
            <a:pPr>
              <a:spcAft>
                <a:spcPts val="600"/>
              </a:spcAft>
            </a:pPr>
            <a:r>
              <a:rPr dirty="0"/>
              <a:t>Material: Styrofoam (lightweight and vibration-absorbing)</a:t>
            </a:r>
          </a:p>
          <a:p>
            <a:pPr>
              <a:spcAft>
                <a:spcPts val="600"/>
              </a:spcAft>
            </a:pPr>
            <a:r>
              <a:rPr dirty="0"/>
              <a:t>Section layout:</a:t>
            </a:r>
          </a:p>
          <a:p>
            <a:pPr>
              <a:spcAft>
                <a:spcPts val="600"/>
              </a:spcAft>
            </a:pPr>
            <a:r>
              <a:rPr dirty="0"/>
              <a:t> - Camera Bay: 49 mm with lens hole</a:t>
            </a:r>
          </a:p>
          <a:p>
            <a:pPr>
              <a:spcAft>
                <a:spcPts val="600"/>
              </a:spcAft>
            </a:pPr>
            <a:r>
              <a:rPr dirty="0"/>
              <a:t> - Electronics Bay: 69 mm, with two DHT22 ventilation holes</a:t>
            </a:r>
          </a:p>
          <a:p>
            <a:pPr>
              <a:spcAft>
                <a:spcPts val="600"/>
              </a:spcAft>
            </a:pPr>
            <a:r>
              <a:rPr dirty="0"/>
              <a:t> - Parachute Bay: 64 mm with servo release mechanism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B4059D9B-2E55-47FE-A188-0F9BD734E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38B951-7EFC-40A2-B198-E73D39DFB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2E4506E-6A0E-49A0-BC31-8CADBFF3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EED4D51-65BF-4AEE-B596-7CB61A70B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 descr="A drawing of a tower&#10;&#10;AI-generated content may be incorrect.">
            <a:extLst>
              <a:ext uri="{FF2B5EF4-FFF2-40B4-BE49-F238E27FC236}">
                <a16:creationId xmlns:a16="http://schemas.microsoft.com/office/drawing/2014/main" id="{A3CD63F0-6A7B-460E-245E-EB844C928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14" y="162649"/>
            <a:ext cx="5030179" cy="6532701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7" name="Picture 6" descr="A drawing of a cylinder&#10;&#10;AI-generated content may be incorrect.">
            <a:extLst>
              <a:ext uri="{FF2B5EF4-FFF2-40B4-BE49-F238E27FC236}">
                <a16:creationId xmlns:a16="http://schemas.microsoft.com/office/drawing/2014/main" id="{F649C7D7-B284-E513-0CB2-BB93F959E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002" y="131699"/>
            <a:ext cx="2766784" cy="3144072"/>
          </a:xfrm>
          <a:prstGeom prst="rect">
            <a:avLst/>
          </a:prstGeom>
        </p:spPr>
      </p:pic>
      <p:pic>
        <p:nvPicPr>
          <p:cNvPr id="5" name="Content Placeholder 4" descr="A grey rectangular object with holes&#10;&#10;AI-generated content may be incorrect.">
            <a:extLst>
              <a:ext uri="{FF2B5EF4-FFF2-40B4-BE49-F238E27FC236}">
                <a16:creationId xmlns:a16="http://schemas.microsoft.com/office/drawing/2014/main" id="{91ABA2DA-0135-DD24-B00C-EB364BD364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219917" y="3407470"/>
            <a:ext cx="2519924" cy="1442656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9" name="Picture 8" descr="A drawing of a shelf&#10;&#10;AI-generated content may be incorrect.">
            <a:extLst>
              <a:ext uri="{FF2B5EF4-FFF2-40B4-BE49-F238E27FC236}">
                <a16:creationId xmlns:a16="http://schemas.microsoft.com/office/drawing/2014/main" id="{07AFB618-AE98-EA74-C3B7-04691B0284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9917" y="5113524"/>
            <a:ext cx="2519100" cy="1492566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E44C078-B8B1-1FCD-EBF4-A35925CBFF69}"/>
                  </a:ext>
                </a:extLst>
              </p14:cNvPr>
              <p14:cNvContentPartPr/>
              <p14:nvPr/>
            </p14:nvContentPartPr>
            <p14:xfrm>
              <a:off x="2624328" y="894960"/>
              <a:ext cx="36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E44C078-B8B1-1FCD-EBF4-A35925CBFF6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18208" y="8888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A4E37CD-C1EB-E7A9-D4A2-148B7A3CFC82}"/>
                  </a:ext>
                </a:extLst>
              </p14:cNvPr>
              <p14:cNvContentPartPr/>
              <p14:nvPr/>
            </p14:nvContentPartPr>
            <p14:xfrm>
              <a:off x="2414088" y="986400"/>
              <a:ext cx="1499040" cy="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A4E37CD-C1EB-E7A9-D4A2-148B7A3CFC8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07608" y="980280"/>
                <a:ext cx="15112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31FC251-94F3-01CD-30F8-23F0816DA3E4}"/>
                  </a:ext>
                </a:extLst>
              </p14:cNvPr>
              <p14:cNvContentPartPr/>
              <p14:nvPr/>
            </p14:nvContentPartPr>
            <p14:xfrm>
              <a:off x="2633328" y="1809360"/>
              <a:ext cx="1318320" cy="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31FC251-94F3-01CD-30F8-23F0816DA3E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27208" y="1803240"/>
                <a:ext cx="13305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0F591B5-8E2D-58C6-92FC-720DB56CB1BB}"/>
                  </a:ext>
                </a:extLst>
              </p14:cNvPr>
              <p14:cNvContentPartPr/>
              <p14:nvPr/>
            </p14:nvContentPartPr>
            <p14:xfrm>
              <a:off x="2971728" y="2604960"/>
              <a:ext cx="123372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0F591B5-8E2D-58C6-92FC-720DB56CB1B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65608" y="2598840"/>
                <a:ext cx="12459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D59CE9A-BF31-6F17-8C3E-9C07EAF514E8}"/>
                  </a:ext>
                </a:extLst>
              </p14:cNvPr>
              <p14:cNvContentPartPr/>
              <p14:nvPr/>
            </p14:nvContentPartPr>
            <p14:xfrm>
              <a:off x="485208" y="2650680"/>
              <a:ext cx="1554120" cy="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D59CE9A-BF31-6F17-8C3E-9C07EAF514E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79088" y="2644560"/>
                <a:ext cx="15663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79A20C2-1F28-645C-8F15-49302F7E268D}"/>
                  </a:ext>
                </a:extLst>
              </p14:cNvPr>
              <p14:cNvContentPartPr/>
              <p14:nvPr/>
            </p14:nvContentPartPr>
            <p14:xfrm>
              <a:off x="5934168" y="1782000"/>
              <a:ext cx="135396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79A20C2-1F28-645C-8F15-49302F7E268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928048" y="1775880"/>
                <a:ext cx="13662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2A5F7B2-CBBB-382A-C050-EAAF53F4FD23}"/>
                  </a:ext>
                </a:extLst>
              </p14:cNvPr>
              <p14:cNvContentPartPr/>
              <p14:nvPr/>
            </p14:nvContentPartPr>
            <p14:xfrm>
              <a:off x="6703488" y="1379880"/>
              <a:ext cx="566280" cy="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2A5F7B2-CBBB-382A-C050-EAAF53F4FD2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697368" y="1373760"/>
                <a:ext cx="5785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F62EBE7-733D-595B-0DCF-C377BDE44A28}"/>
                  </a:ext>
                </a:extLst>
              </p14:cNvPr>
              <p14:cNvContentPartPr/>
              <p14:nvPr/>
            </p14:nvContentPartPr>
            <p14:xfrm>
              <a:off x="5875848" y="1029240"/>
              <a:ext cx="850680" cy="3610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F62EBE7-733D-595B-0DCF-C377BDE44A2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869728" y="1023120"/>
                <a:ext cx="86292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DF95596-F388-F1D5-F59A-0DBCF24C1C0F}"/>
                  </a:ext>
                </a:extLst>
              </p14:cNvPr>
              <p14:cNvContentPartPr/>
              <p14:nvPr/>
            </p14:nvContentPartPr>
            <p14:xfrm>
              <a:off x="2962728" y="4515840"/>
              <a:ext cx="990720" cy="3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DF95596-F388-F1D5-F59A-0DBCF24C1C0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956248" y="4509720"/>
                <a:ext cx="10029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EB521C3-8ECE-CD89-7131-D49E7F19673D}"/>
                  </a:ext>
                </a:extLst>
              </p14:cNvPr>
              <p14:cNvContentPartPr/>
              <p14:nvPr/>
            </p14:nvContentPartPr>
            <p14:xfrm>
              <a:off x="2285928" y="4122720"/>
              <a:ext cx="1554840" cy="3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EB521C3-8ECE-CD89-7131-D49E7F19673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279808" y="4116600"/>
                <a:ext cx="15670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E86A5FEE-2188-2954-8516-90CBF4E53E2F}"/>
                  </a:ext>
                </a:extLst>
              </p14:cNvPr>
              <p14:cNvContentPartPr/>
              <p14:nvPr/>
            </p14:nvContentPartPr>
            <p14:xfrm>
              <a:off x="1581768" y="3309120"/>
              <a:ext cx="2679840" cy="3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E86A5FEE-2188-2954-8516-90CBF4E53E2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575648" y="3303000"/>
                <a:ext cx="26920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145A89F4-AC69-8E0C-D7AF-903DCB5A520D}"/>
                  </a:ext>
                </a:extLst>
              </p14:cNvPr>
              <p14:cNvContentPartPr/>
              <p14:nvPr/>
            </p14:nvContentPartPr>
            <p14:xfrm>
              <a:off x="2596608" y="5439600"/>
              <a:ext cx="1416960" cy="3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145A89F4-AC69-8E0C-D7AF-903DCB5A520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590488" y="5433480"/>
                <a:ext cx="14292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7C8E660-31EA-EE7E-10BC-E217984D58E8}"/>
                  </a:ext>
                </a:extLst>
              </p14:cNvPr>
              <p14:cNvContentPartPr/>
              <p14:nvPr/>
            </p14:nvContentPartPr>
            <p14:xfrm>
              <a:off x="2212488" y="5905800"/>
              <a:ext cx="2164320" cy="3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7C8E660-31EA-EE7E-10BC-E217984D58E8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206368" y="5899680"/>
                <a:ext cx="21765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031D13B6-7516-9E7D-D2D7-33940292E531}"/>
                  </a:ext>
                </a:extLst>
              </p14:cNvPr>
              <p14:cNvContentPartPr/>
              <p14:nvPr/>
            </p14:nvContentPartPr>
            <p14:xfrm>
              <a:off x="2267568" y="6143760"/>
              <a:ext cx="2960280" cy="36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31D13B6-7516-9E7D-D2D7-33940292E531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261448" y="6137640"/>
                <a:ext cx="29725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8C6ED828-F722-B516-2FB7-A0498A6C641E}"/>
                  </a:ext>
                </a:extLst>
              </p14:cNvPr>
              <p14:cNvContentPartPr/>
              <p14:nvPr/>
            </p14:nvContentPartPr>
            <p14:xfrm>
              <a:off x="741168" y="5037120"/>
              <a:ext cx="1343880" cy="3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8C6ED828-F722-B516-2FB7-A0498A6C641E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35048" y="5031000"/>
                <a:ext cx="13561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CB2F696-49B1-22BC-06E8-913105249735}"/>
                  </a:ext>
                </a:extLst>
              </p14:cNvPr>
              <p14:cNvContentPartPr/>
              <p14:nvPr/>
            </p14:nvContentPartPr>
            <p14:xfrm>
              <a:off x="704448" y="3052800"/>
              <a:ext cx="1407600" cy="3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CB2F696-49B1-22BC-06E8-91310524973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98328" y="3046680"/>
                <a:ext cx="141984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442FCB26-2AC7-6905-6D3A-73F96BA817C4}"/>
              </a:ext>
            </a:extLst>
          </p:cNvPr>
          <p:cNvSpPr txBox="1"/>
          <p:nvPr/>
        </p:nvSpPr>
        <p:spPr>
          <a:xfrm>
            <a:off x="3400253" y="978428"/>
            <a:ext cx="190714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Retractable cover for parachute </a:t>
            </a:r>
          </a:p>
          <a:p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1319409-2DC3-CCFA-F7AB-8622B6767F0B}"/>
              </a:ext>
            </a:extLst>
          </p:cNvPr>
          <p:cNvSpPr txBox="1"/>
          <p:nvPr/>
        </p:nvSpPr>
        <p:spPr>
          <a:xfrm>
            <a:off x="3913128" y="1691640"/>
            <a:ext cx="1499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Parachute packed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0867F63-1D89-8D24-DCF8-0AD78066C852}"/>
              </a:ext>
            </a:extLst>
          </p:cNvPr>
          <p:cNvSpPr txBox="1"/>
          <p:nvPr/>
        </p:nvSpPr>
        <p:spPr>
          <a:xfrm>
            <a:off x="4182869" y="2388558"/>
            <a:ext cx="11019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Servo</a:t>
            </a:r>
            <a:endParaRPr lang="en-IN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5610283-2A1D-0026-0C67-1183FEF2E14E}"/>
              </a:ext>
            </a:extLst>
          </p:cNvPr>
          <p:cNvSpPr txBox="1"/>
          <p:nvPr/>
        </p:nvSpPr>
        <p:spPr>
          <a:xfrm>
            <a:off x="4261608" y="3209544"/>
            <a:ext cx="149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Arduino Uno Board</a:t>
            </a:r>
            <a:endParaRPr lang="en-IN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96DBE9C-D4BA-8E01-0BD8-37DFFF3C3090}"/>
              </a:ext>
            </a:extLst>
          </p:cNvPr>
          <p:cNvSpPr txBox="1"/>
          <p:nvPr/>
        </p:nvSpPr>
        <p:spPr>
          <a:xfrm>
            <a:off x="3400253" y="26053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11C70CA-B50A-C516-25B5-428F4897FB1A}"/>
              </a:ext>
            </a:extLst>
          </p:cNvPr>
          <p:cNvSpPr txBox="1"/>
          <p:nvPr/>
        </p:nvSpPr>
        <p:spPr>
          <a:xfrm>
            <a:off x="3840768" y="3968831"/>
            <a:ext cx="1416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Battery Pack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BC9597-B99E-9841-CA71-2C0B8104E8B5}"/>
              </a:ext>
            </a:extLst>
          </p:cNvPr>
          <p:cNvSpPr txBox="1"/>
          <p:nvPr/>
        </p:nvSpPr>
        <p:spPr>
          <a:xfrm>
            <a:off x="3951648" y="4306374"/>
            <a:ext cx="1238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Breadboard Mini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357F087-513B-9B3E-ABE0-8E8F31F7A660}"/>
              </a:ext>
            </a:extLst>
          </p:cNvPr>
          <p:cNvSpPr txBox="1"/>
          <p:nvPr/>
        </p:nvSpPr>
        <p:spPr>
          <a:xfrm>
            <a:off x="-102876" y="1927545"/>
            <a:ext cx="11761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Spring for the deployment of parachute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D596196-D26D-3CA5-942C-4E1A0854413F}"/>
              </a:ext>
            </a:extLst>
          </p:cNvPr>
          <p:cNvSpPr txBox="1"/>
          <p:nvPr/>
        </p:nvSpPr>
        <p:spPr>
          <a:xfrm>
            <a:off x="-88161" y="2920055"/>
            <a:ext cx="916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Bulkhead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CA8E964-DE63-A73E-D0F5-B1A489FC7093}"/>
              </a:ext>
            </a:extLst>
          </p:cNvPr>
          <p:cNvSpPr txBox="1"/>
          <p:nvPr/>
        </p:nvSpPr>
        <p:spPr>
          <a:xfrm>
            <a:off x="0" y="4809264"/>
            <a:ext cx="916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Bulkhead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D8B3CBD-0688-7250-AEE8-C26853648A54}"/>
              </a:ext>
            </a:extLst>
          </p:cNvPr>
          <p:cNvSpPr txBox="1"/>
          <p:nvPr/>
        </p:nvSpPr>
        <p:spPr>
          <a:xfrm>
            <a:off x="3960232" y="5252658"/>
            <a:ext cx="14519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Vibration Isolator</a:t>
            </a:r>
            <a:endParaRPr lang="en-IN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54F6C20-C933-D843-24D5-A5FEE8A80E41}"/>
              </a:ext>
            </a:extLst>
          </p:cNvPr>
          <p:cNvSpPr txBox="1"/>
          <p:nvPr/>
        </p:nvSpPr>
        <p:spPr>
          <a:xfrm>
            <a:off x="4376808" y="5698209"/>
            <a:ext cx="1361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Camera Module</a:t>
            </a:r>
            <a:endParaRPr lang="en-IN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EDF1F8F-BC2F-01BB-E977-98A306484BE7}"/>
              </a:ext>
            </a:extLst>
          </p:cNvPr>
          <p:cNvSpPr txBox="1"/>
          <p:nvPr/>
        </p:nvSpPr>
        <p:spPr>
          <a:xfrm>
            <a:off x="4751519" y="6144120"/>
            <a:ext cx="1416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Hole for camera </a:t>
            </a:r>
            <a:endParaRPr lang="en-IN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FD969DA-BDCB-B79A-71A9-1AA7AC62B987}"/>
              </a:ext>
            </a:extLst>
          </p:cNvPr>
          <p:cNvSpPr txBox="1"/>
          <p:nvPr/>
        </p:nvSpPr>
        <p:spPr>
          <a:xfrm>
            <a:off x="5115951" y="401853"/>
            <a:ext cx="13539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Hole for maintaining the pressure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AD5D991-8CC6-F1E0-282F-5A83F6E7275E}"/>
              </a:ext>
            </a:extLst>
          </p:cNvPr>
          <p:cNvSpPr txBox="1"/>
          <p:nvPr/>
        </p:nvSpPr>
        <p:spPr>
          <a:xfrm>
            <a:off x="5343346" y="1509764"/>
            <a:ext cx="11633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Hole for DHT22 sensor</a:t>
            </a:r>
          </a:p>
        </p:txBody>
      </p:sp>
    </p:spTree>
    <p:extLst>
      <p:ext uri="{BB962C8B-B14F-4D97-AF65-F5344CB8AC3E}">
        <p14:creationId xmlns:p14="http://schemas.microsoft.com/office/powerpoint/2010/main" val="2836033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Payload Section - Camera &amp;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dirty="0"/>
              <a:t>OV7670 Camera mounted at bottom aperture.</a:t>
            </a:r>
          </a:p>
          <a:p>
            <a:pPr>
              <a:spcAft>
                <a:spcPts val="600"/>
              </a:spcAft>
            </a:pPr>
            <a:r>
              <a:rPr dirty="0"/>
              <a:t>Vibration isolation </a:t>
            </a:r>
            <a:r>
              <a:rPr lang="en-IN" dirty="0"/>
              <a:t>for the camera module.</a:t>
            </a:r>
            <a:endParaRPr dirty="0"/>
          </a:p>
          <a:p>
            <a:pPr>
              <a:spcAft>
                <a:spcPts val="600"/>
              </a:spcAft>
            </a:pPr>
            <a:r>
              <a:rPr dirty="0"/>
              <a:t>49 mm chamber reduces transmitted vibrations.</a:t>
            </a:r>
          </a:p>
          <a:p>
            <a:pPr>
              <a:spcAft>
                <a:spcPts val="600"/>
              </a:spcAft>
            </a:pPr>
            <a:r>
              <a:rPr dirty="0"/>
              <a:t>Wiring through central hole to electronics bay.</a:t>
            </a:r>
            <a:endParaRPr lang="en-IN" dirty="0"/>
          </a:p>
          <a:p>
            <a:pPr>
              <a:spcAft>
                <a:spcPts val="600"/>
              </a:spcAft>
            </a:pPr>
            <a:r>
              <a:rPr lang="en-IN" dirty="0"/>
              <a:t>The camera will capture frames.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ue and yellow object with a blue and yellow object on a grid&#10;&#10;AI-generated content may be incorrect.">
            <a:extLst>
              <a:ext uri="{FF2B5EF4-FFF2-40B4-BE49-F238E27FC236}">
                <a16:creationId xmlns:a16="http://schemas.microsoft.com/office/drawing/2014/main" id="{63835B4B-0290-A1DD-AF77-EBA59FE026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5587" y="1380087"/>
            <a:ext cx="3587070" cy="2089468"/>
          </a:xfrm>
          <a:prstGeom prst="rect">
            <a:avLst/>
          </a:prstGeom>
        </p:spPr>
      </p:pic>
      <p:pic>
        <p:nvPicPr>
          <p:cNvPr id="7" name="Picture 6" descr="A drawing of a round table&#10;&#10;AI-generated content may be incorrect.">
            <a:extLst>
              <a:ext uri="{FF2B5EF4-FFF2-40B4-BE49-F238E27FC236}">
                <a16:creationId xmlns:a16="http://schemas.microsoft.com/office/drawing/2014/main" id="{1C9DE8B2-D95E-E164-3696-C7205A233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2420" y="1266372"/>
            <a:ext cx="3788070" cy="24260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D2F123-7C5B-FFDA-3B04-EE9A4422419E}"/>
              </a:ext>
            </a:extLst>
          </p:cNvPr>
          <p:cNvSpPr txBox="1"/>
          <p:nvPr/>
        </p:nvSpPr>
        <p:spPr>
          <a:xfrm>
            <a:off x="850619" y="3868211"/>
            <a:ext cx="780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picture above shows Vibration isolator mount for camera. They can absorb considerable amount of vibrations and provide a stable platform. (This is the CAD)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F695822-CED3-B116-7742-9181DDA15CF4}"/>
                  </a:ext>
                </a:extLst>
              </p14:cNvPr>
              <p14:cNvContentPartPr/>
              <p14:nvPr/>
            </p14:nvContentPartPr>
            <p14:xfrm>
              <a:off x="3307883" y="1756099"/>
              <a:ext cx="82188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F695822-CED3-B116-7742-9181DDA15CF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01763" y="1749979"/>
                <a:ext cx="8341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44E6EE8-0246-9ABC-4C28-4A590002B4C1}"/>
                  </a:ext>
                </a:extLst>
              </p14:cNvPr>
              <p14:cNvContentPartPr/>
              <p14:nvPr/>
            </p14:nvContentPartPr>
            <p14:xfrm>
              <a:off x="465323" y="1920619"/>
              <a:ext cx="95976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44E6EE8-0246-9ABC-4C28-4A590002B4C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9203" y="1914499"/>
                <a:ext cx="9720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29EDE79-D3B6-B9CC-96FB-346A0AE7F053}"/>
                  </a:ext>
                </a:extLst>
              </p14:cNvPr>
              <p14:cNvContentPartPr/>
              <p14:nvPr/>
            </p14:nvContentPartPr>
            <p14:xfrm>
              <a:off x="2987843" y="2194939"/>
              <a:ext cx="95184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29EDE79-D3B6-B9CC-96FB-346A0AE7F05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81723" y="2188819"/>
                <a:ext cx="9640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64C9F87-C80C-30B9-63B1-CC7C1208B6CF}"/>
                  </a:ext>
                </a:extLst>
              </p14:cNvPr>
              <p14:cNvContentPartPr/>
              <p14:nvPr/>
            </p14:nvContentPartPr>
            <p14:xfrm>
              <a:off x="1899563" y="3146059"/>
              <a:ext cx="128052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64C9F87-C80C-30B9-63B1-CC7C1208B6C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93443" y="3139939"/>
                <a:ext cx="12927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3DEB9D4-E6F0-9526-E2AE-4EE665B8D62B}"/>
                  </a:ext>
                </a:extLst>
              </p14:cNvPr>
              <p14:cNvContentPartPr/>
              <p14:nvPr/>
            </p14:nvContentPartPr>
            <p14:xfrm>
              <a:off x="3187283" y="3146419"/>
              <a:ext cx="886680" cy="2714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3DEB9D4-E6F0-9526-E2AE-4EE665B8D62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181163" y="3140299"/>
                <a:ext cx="89892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52BE052-3C99-22D3-2045-47F4143C9E05}"/>
                  </a:ext>
                </a:extLst>
              </p14:cNvPr>
              <p14:cNvContentPartPr/>
              <p14:nvPr/>
            </p14:nvContentPartPr>
            <p14:xfrm>
              <a:off x="3872003" y="2189899"/>
              <a:ext cx="652320" cy="1998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52BE052-3C99-22D3-2045-47F4143C9E0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865883" y="2183779"/>
                <a:ext cx="66456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3A5AD9B-6AC7-478C-F5D4-EA910E6788AD}"/>
                  </a:ext>
                </a:extLst>
              </p14:cNvPr>
              <p14:cNvContentPartPr/>
              <p14:nvPr/>
            </p14:nvContentPartPr>
            <p14:xfrm>
              <a:off x="4113923" y="1611019"/>
              <a:ext cx="375120" cy="1519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3A5AD9B-6AC7-478C-F5D4-EA910E6788A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107803" y="1604899"/>
                <a:ext cx="38736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AFBF5AA-860D-DF11-5288-EA66BCA275FD}"/>
                  </a:ext>
                </a:extLst>
              </p14:cNvPr>
              <p14:cNvContentPartPr/>
              <p14:nvPr/>
            </p14:nvContentPartPr>
            <p14:xfrm>
              <a:off x="50490" y="1920619"/>
              <a:ext cx="446040" cy="180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AFBF5AA-860D-DF11-5288-EA66BCA275F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4370" y="1914499"/>
                <a:ext cx="458280" cy="19260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9FDE9F4D-17AB-8BCB-94CC-F1250C9E3B30}"/>
              </a:ext>
            </a:extLst>
          </p:cNvPr>
          <p:cNvSpPr txBox="1"/>
          <p:nvPr/>
        </p:nvSpPr>
        <p:spPr>
          <a:xfrm>
            <a:off x="-61254" y="2041410"/>
            <a:ext cx="923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connector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63AB19-D239-CA9B-335C-DD1213FD949A}"/>
              </a:ext>
            </a:extLst>
          </p:cNvPr>
          <p:cNvSpPr txBox="1"/>
          <p:nvPr/>
        </p:nvSpPr>
        <p:spPr>
          <a:xfrm>
            <a:off x="4030189" y="1327122"/>
            <a:ext cx="951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bulkhead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424E6A-29B2-CD93-73E5-7CBE471F6858}"/>
              </a:ext>
            </a:extLst>
          </p:cNvPr>
          <p:cNvSpPr txBox="1"/>
          <p:nvPr/>
        </p:nvSpPr>
        <p:spPr>
          <a:xfrm>
            <a:off x="3446048" y="2360125"/>
            <a:ext cx="1662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Vibration absorbing </a:t>
            </a:r>
          </a:p>
          <a:p>
            <a:r>
              <a:rPr lang="en-IN" sz="1400" dirty="0"/>
              <a:t>metal wire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9E9178-4865-9FE0-710F-1F9611A5E603}"/>
              </a:ext>
            </a:extLst>
          </p:cNvPr>
          <p:cNvSpPr txBox="1"/>
          <p:nvPr/>
        </p:nvSpPr>
        <p:spPr>
          <a:xfrm>
            <a:off x="3436847" y="3384611"/>
            <a:ext cx="1463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Camera Module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9740D3-1715-C393-B212-C9AD2CFCB02D}"/>
              </a:ext>
            </a:extLst>
          </p:cNvPr>
          <p:cNvSpPr txBox="1"/>
          <p:nvPr/>
        </p:nvSpPr>
        <p:spPr>
          <a:xfrm>
            <a:off x="511484" y="538523"/>
            <a:ext cx="8025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There are holes in the structure for connection with the MCU of the camera module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E977329-D047-8D86-D59F-87AB285B0C5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579629" y="4643508"/>
            <a:ext cx="1984742" cy="205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800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Electronics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Aft>
                <a:spcPts val="600"/>
              </a:spcAft>
            </a:pPr>
            <a:r>
              <a:rPr dirty="0"/>
              <a:t>Arduino Uno main board controlling sensors and storage.</a:t>
            </a:r>
          </a:p>
          <a:p>
            <a:pPr>
              <a:spcAft>
                <a:spcPts val="600"/>
              </a:spcAft>
            </a:pPr>
            <a:r>
              <a:rPr dirty="0"/>
              <a:t>Modules: DHT22, MPU6050, DS1307 RTC, microSD adapter.</a:t>
            </a:r>
          </a:p>
          <a:p>
            <a:pPr>
              <a:spcAft>
                <a:spcPts val="600"/>
              </a:spcAft>
            </a:pPr>
            <a:r>
              <a:rPr dirty="0"/>
              <a:t>Two side holes for accurate ambient air measurement by DHT22.</a:t>
            </a:r>
          </a:p>
          <a:p>
            <a:pPr>
              <a:spcAft>
                <a:spcPts val="600"/>
              </a:spcAft>
            </a:pPr>
            <a:r>
              <a:rPr dirty="0"/>
              <a:t>Power regulation and servo signal outputs included.</a:t>
            </a:r>
          </a:p>
          <a:p>
            <a:pPr>
              <a:spcAft>
                <a:spcPts val="600"/>
              </a:spcAft>
            </a:pPr>
            <a:r>
              <a:rPr dirty="0"/>
              <a:t>All data logged at 1 Hz sampling frequency.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F9BC8E86-7283-28CE-4763-EF6769D66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724" y="918000"/>
            <a:ext cx="4803338" cy="459907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55989AB-09E5-11DE-BCC2-FAEC24E40903}"/>
                  </a:ext>
                </a:extLst>
              </p14:cNvPr>
              <p14:cNvContentPartPr/>
              <p14:nvPr/>
            </p14:nvContentPartPr>
            <p14:xfrm>
              <a:off x="1217088" y="1302840"/>
              <a:ext cx="123336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55989AB-09E5-11DE-BCC2-FAEC24E4090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10968" y="1296720"/>
                <a:ext cx="1245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B0CD2A9-3AA5-BC8F-DD9D-15653D0C9E9B}"/>
                  </a:ext>
                </a:extLst>
              </p14:cNvPr>
              <p14:cNvContentPartPr/>
              <p14:nvPr/>
            </p14:nvContentPartPr>
            <p14:xfrm>
              <a:off x="4700088" y="1763496"/>
              <a:ext cx="2367720" cy="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B0CD2A9-3AA5-BC8F-DD9D-15653D0C9E9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93968" y="1757376"/>
                <a:ext cx="23799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25A9B60-8AC1-12C6-897B-A080F05F9BD5}"/>
                  </a:ext>
                </a:extLst>
              </p14:cNvPr>
              <p14:cNvContentPartPr/>
              <p14:nvPr/>
            </p14:nvContentPartPr>
            <p14:xfrm>
              <a:off x="6336648" y="3939696"/>
              <a:ext cx="1234080" cy="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25A9B60-8AC1-12C6-897B-A080F05F9B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30528" y="3933576"/>
                <a:ext cx="12463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BBFB781-94D2-74BC-B027-7004DED67523}"/>
                  </a:ext>
                </a:extLst>
              </p14:cNvPr>
              <p14:cNvContentPartPr/>
              <p14:nvPr/>
            </p14:nvContentPartPr>
            <p14:xfrm>
              <a:off x="1555128" y="4854096"/>
              <a:ext cx="140760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BBFB781-94D2-74BC-B027-7004DED6752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49008" y="4847976"/>
                <a:ext cx="141984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FD15673-6208-0E1C-EEF5-F0A58B2F1E7D}"/>
                  </a:ext>
                </a:extLst>
              </p14:cNvPr>
              <p14:cNvContentPartPr/>
              <p14:nvPr/>
            </p14:nvContentPartPr>
            <p14:xfrm>
              <a:off x="1591848" y="3217176"/>
              <a:ext cx="248652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FD15673-6208-0E1C-EEF5-F0A58B2F1E7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85728" y="3211056"/>
                <a:ext cx="24987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3C87C20-EA8C-5F9E-140E-E1439089BF2B}"/>
                  </a:ext>
                </a:extLst>
              </p14:cNvPr>
              <p14:cNvContentPartPr/>
              <p14:nvPr/>
            </p14:nvContentPartPr>
            <p14:xfrm>
              <a:off x="1236132" y="2452248"/>
              <a:ext cx="973080" cy="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3C87C20-EA8C-5F9E-140E-E1439089BF2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30012" y="2446128"/>
                <a:ext cx="9853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C637B51-35FB-1B7D-3DB6-35CAAA3236BE}"/>
                  </a:ext>
                </a:extLst>
              </p14:cNvPr>
              <p14:cNvContentPartPr/>
              <p14:nvPr/>
            </p14:nvContentPartPr>
            <p14:xfrm>
              <a:off x="2178288" y="2279376"/>
              <a:ext cx="16560" cy="252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C637B51-35FB-1B7D-3DB6-35CAAA3236B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72168" y="2273256"/>
                <a:ext cx="28800" cy="3744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2E5304B6-71FF-1107-9996-D61400FBCC7A}"/>
              </a:ext>
            </a:extLst>
          </p:cNvPr>
          <p:cNvSpPr txBox="1"/>
          <p:nvPr/>
        </p:nvSpPr>
        <p:spPr>
          <a:xfrm>
            <a:off x="7039658" y="1627632"/>
            <a:ext cx="960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RTC (clock)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47BF29-04E6-84B7-0733-30A556CBCC4D}"/>
              </a:ext>
            </a:extLst>
          </p:cNvPr>
          <p:cNvSpPr txBox="1"/>
          <p:nvPr/>
        </p:nvSpPr>
        <p:spPr>
          <a:xfrm>
            <a:off x="579672" y="2279376"/>
            <a:ext cx="114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1K ohm Resistor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2D8DB1-6664-6DA5-C471-411D7B84AC53}"/>
              </a:ext>
            </a:extLst>
          </p:cNvPr>
          <p:cNvSpPr txBox="1"/>
          <p:nvPr/>
        </p:nvSpPr>
        <p:spPr>
          <a:xfrm>
            <a:off x="109728" y="1051560"/>
            <a:ext cx="12527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DHT22 (Temperature and Humidity)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4DF9D3-EEC3-CB12-776A-B29E2281B7F3}"/>
              </a:ext>
            </a:extLst>
          </p:cNvPr>
          <p:cNvSpPr txBox="1"/>
          <p:nvPr/>
        </p:nvSpPr>
        <p:spPr>
          <a:xfrm>
            <a:off x="7248276" y="3906930"/>
            <a:ext cx="174942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mpu6050 6-Axis Accel &amp; Gyro Sensor</a:t>
            </a:r>
          </a:p>
          <a:p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F4F0B1-4FA5-0D6D-A87F-63081E8CF3D8}"/>
              </a:ext>
            </a:extLst>
          </p:cNvPr>
          <p:cNvSpPr txBox="1"/>
          <p:nvPr/>
        </p:nvSpPr>
        <p:spPr>
          <a:xfrm>
            <a:off x="602262" y="3063287"/>
            <a:ext cx="1141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Arduino Uno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A6C615-5490-D68D-67B1-0FB61A72C104}"/>
              </a:ext>
            </a:extLst>
          </p:cNvPr>
          <p:cNvSpPr txBox="1"/>
          <p:nvPr/>
        </p:nvSpPr>
        <p:spPr>
          <a:xfrm>
            <a:off x="851563" y="4700207"/>
            <a:ext cx="857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MicroSD</a:t>
            </a:r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2E5276-3739-A72C-E81B-5B8254EB975E}"/>
              </a:ext>
            </a:extLst>
          </p:cNvPr>
          <p:cNvSpPr txBox="1"/>
          <p:nvPr/>
        </p:nvSpPr>
        <p:spPr>
          <a:xfrm>
            <a:off x="579672" y="5815584"/>
            <a:ext cx="71195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Pin 6 and 5 are used for the measurement of battery level.</a:t>
            </a:r>
            <a:br>
              <a:rPr lang="en-IN" sz="1400" dirty="0"/>
            </a:br>
            <a:r>
              <a:rPr lang="en-US" sz="1400" dirty="0"/>
              <a:t>The ADC converter will map input voltages between 0 and 5 volts into integer values between 0 and 1023. So we multiply input Value to (5/1024), then we get the digital value of input voltage.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303382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Parachute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Aft>
                <a:spcPts val="600"/>
              </a:spcAft>
            </a:pPr>
            <a:r>
              <a:rPr dirty="0"/>
              <a:t>Parachute: 90 cm diameter </a:t>
            </a:r>
            <a:r>
              <a:rPr lang="en-IN" dirty="0"/>
              <a:t>Cotton cloth</a:t>
            </a:r>
            <a:r>
              <a:rPr dirty="0"/>
              <a:t> canopy with 30 cm cords.</a:t>
            </a:r>
          </a:p>
          <a:p>
            <a:pPr>
              <a:spcAft>
                <a:spcPts val="600"/>
              </a:spcAft>
            </a:pPr>
            <a:r>
              <a:rPr dirty="0"/>
              <a:t>Servo latch mechanism inside bay for ejection.</a:t>
            </a:r>
          </a:p>
          <a:p>
            <a:pPr>
              <a:spcAft>
                <a:spcPts val="600"/>
              </a:spcAft>
            </a:pPr>
            <a:r>
              <a:rPr dirty="0"/>
              <a:t>Trigger logic:</a:t>
            </a:r>
          </a:p>
          <a:p>
            <a:pPr>
              <a:spcAft>
                <a:spcPts val="600"/>
              </a:spcAft>
            </a:pPr>
            <a:r>
              <a:rPr dirty="0"/>
              <a:t> - Accelerometer detects &gt;</a:t>
            </a:r>
            <a:r>
              <a:rPr lang="en-IN" dirty="0"/>
              <a:t>0.3</a:t>
            </a:r>
            <a:r>
              <a:rPr dirty="0"/>
              <a:t>g spike → open parachute.</a:t>
            </a:r>
          </a:p>
          <a:p>
            <a:pPr>
              <a:spcAft>
                <a:spcPts val="600"/>
              </a:spcAft>
            </a:pPr>
            <a:r>
              <a:rPr dirty="0"/>
              <a:t> - Failsafe: RTC timer triggers servo after 2s if not opened.</a:t>
            </a:r>
          </a:p>
          <a:p>
            <a:pPr>
              <a:spcAft>
                <a:spcPts val="600"/>
              </a:spcAft>
            </a:pPr>
            <a:r>
              <a:rPr dirty="0"/>
              <a:t>Clean release design for reliable deployment.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Aft>
                <a:spcPts val="600"/>
              </a:spcAft>
            </a:pPr>
            <a:r>
              <a:rPr dirty="0"/>
              <a:t>1. Initialization: check sensors and SD readiness.</a:t>
            </a:r>
          </a:p>
          <a:p>
            <a:pPr>
              <a:spcAft>
                <a:spcPts val="600"/>
              </a:spcAft>
            </a:pPr>
            <a:r>
              <a:rPr dirty="0"/>
              <a:t>2. Wait for release detection using MPU6050 (free-fall).</a:t>
            </a:r>
          </a:p>
          <a:p>
            <a:pPr>
              <a:spcAft>
                <a:spcPts val="600"/>
              </a:spcAft>
            </a:pPr>
            <a:r>
              <a:rPr dirty="0"/>
              <a:t>3. Start data logging and camera recording.</a:t>
            </a:r>
          </a:p>
          <a:p>
            <a:pPr>
              <a:spcAft>
                <a:spcPts val="600"/>
              </a:spcAft>
            </a:pPr>
            <a:r>
              <a:rPr dirty="0"/>
              <a:t>4. Deploy parachute if acceleration &gt;</a:t>
            </a:r>
            <a:r>
              <a:rPr lang="en-IN" dirty="0"/>
              <a:t>0.3</a:t>
            </a:r>
            <a:r>
              <a:rPr dirty="0"/>
              <a:t>g.</a:t>
            </a:r>
          </a:p>
          <a:p>
            <a:pPr>
              <a:spcAft>
                <a:spcPts val="600"/>
              </a:spcAft>
            </a:pPr>
            <a:r>
              <a:rPr dirty="0"/>
              <a:t>5. If not triggered, deploy after 2s (RTC).</a:t>
            </a:r>
          </a:p>
          <a:p>
            <a:pPr>
              <a:spcAft>
                <a:spcPts val="600"/>
              </a:spcAft>
            </a:pPr>
            <a:r>
              <a:rPr dirty="0"/>
              <a:t>6. Continue logging until low acceleration indicates landing.</a:t>
            </a:r>
          </a:p>
          <a:p>
            <a:pPr>
              <a:spcAft>
                <a:spcPts val="600"/>
              </a:spcAft>
            </a:pPr>
            <a:r>
              <a:rPr dirty="0"/>
              <a:t>7. Stop recording and safely close SD file.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 Results (OpenRocket)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>
              <a:spcAft>
                <a:spcPts val="600"/>
              </a:spcAft>
            </a:pPr>
            <a:r>
              <a:rPr dirty="0"/>
              <a:t>Simulated with total mass 650 g and 90 cm parachute.</a:t>
            </a:r>
          </a:p>
          <a:p>
            <a:pPr>
              <a:spcAft>
                <a:spcPts val="600"/>
              </a:spcAft>
            </a:pPr>
            <a:r>
              <a:rPr dirty="0"/>
              <a:t>Predicted </a:t>
            </a:r>
            <a:r>
              <a:rPr lang="en-IN" dirty="0"/>
              <a:t>vertical </a:t>
            </a:r>
            <a:r>
              <a:rPr dirty="0"/>
              <a:t>descent velocity: </a:t>
            </a:r>
            <a:r>
              <a:rPr lang="en-IN" dirty="0"/>
              <a:t>~4.90</a:t>
            </a:r>
            <a:r>
              <a:rPr dirty="0"/>
              <a:t>m/s.</a:t>
            </a:r>
            <a:r>
              <a:rPr lang="en-IN" dirty="0"/>
              <a:t>(with the extra weight of the motor during the simulation)</a:t>
            </a:r>
            <a:endParaRPr dirty="0"/>
          </a:p>
          <a:p>
            <a:pPr>
              <a:spcAft>
                <a:spcPts val="600"/>
              </a:spcAft>
            </a:pPr>
            <a:r>
              <a:rPr dirty="0"/>
              <a:t>Stable vertical descent and upright orientation maintained.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a function&#10;&#10;AI-generated content may be incorrect.">
            <a:extLst>
              <a:ext uri="{FF2B5EF4-FFF2-40B4-BE49-F238E27FC236}">
                <a16:creationId xmlns:a16="http://schemas.microsoft.com/office/drawing/2014/main" id="{A7453285-8ED0-9671-7034-FAEB49E13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271" y="125333"/>
            <a:ext cx="7159023" cy="4331208"/>
          </a:xfrm>
          <a:prstGeom prst="rect">
            <a:avLst/>
          </a:prstGeom>
        </p:spPr>
      </p:pic>
      <p:pic>
        <p:nvPicPr>
          <p:cNvPr id="5" name="Content Placeholder 4" descr="A white paper with red and black symbols&#10;&#10;AI-generated content may be incorrect.">
            <a:extLst>
              <a:ext uri="{FF2B5EF4-FFF2-40B4-BE49-F238E27FC236}">
                <a16:creationId xmlns:a16="http://schemas.microsoft.com/office/drawing/2014/main" id="{C734E805-F405-0D22-C80C-2BB8193879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45766" y="4835151"/>
            <a:ext cx="5388034" cy="149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601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3116868" cy="5571898"/>
          </a:xfrm>
        </p:spPr>
        <p:txBody>
          <a:bodyPr>
            <a:normAutofit/>
          </a:bodyPr>
          <a:lstStyle/>
          <a:p>
            <a:r>
              <a:t>Testing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9914" y="557189"/>
            <a:ext cx="4625434" cy="557189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/>
              <a:t>Ground Tests: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/>
              <a:t> - SD data logging and RTC synchronization verification.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/>
              <a:t> - Servo cycle tests (100+ operations).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/>
              <a:t> - Battery endurance testing (10+ minutes operation).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/>
              <a:t>Mechanical Tests: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/>
              <a:t> - Drop tests from 5–10 m to confirm structure integrity.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/>
              <a:t> - Vibration tests to ensure camera stability.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/>
              <a:t>Parachute Tests: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/>
              <a:t> - Static deployment tests for tangle-free release.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/>
              <a:t> - Drop tests with dummy payloads for descent rate validation.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Analysis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spcAft>
                <a:spcPts val="600"/>
              </a:spcAft>
            </a:pPr>
            <a:r>
              <a:rPr dirty="0"/>
              <a:t>Parachute fails: redundant servo lock + timed failsafe trigger.</a:t>
            </a:r>
          </a:p>
          <a:p>
            <a:pPr>
              <a:spcAft>
                <a:spcPts val="600"/>
              </a:spcAft>
            </a:pPr>
            <a:r>
              <a:rPr dirty="0"/>
              <a:t>SD card errors: use high-quality card, frequent data flushes.</a:t>
            </a:r>
          </a:p>
          <a:p>
            <a:pPr>
              <a:spcAft>
                <a:spcPts val="600"/>
              </a:spcAft>
            </a:pPr>
            <a:r>
              <a:rPr dirty="0"/>
              <a:t>Camera vibration: </a:t>
            </a:r>
            <a:r>
              <a:rPr lang="en-IN" dirty="0"/>
              <a:t>I</a:t>
            </a:r>
            <a:r>
              <a:rPr dirty="0"/>
              <a:t>solation mount</a:t>
            </a:r>
            <a:r>
              <a:rPr lang="en-IN" dirty="0"/>
              <a:t> and space in the camera section for the camera to move relatively</a:t>
            </a:r>
            <a:r>
              <a:rPr dirty="0"/>
              <a:t>.</a:t>
            </a:r>
          </a:p>
          <a:p>
            <a:pPr>
              <a:spcAft>
                <a:spcPts val="600"/>
              </a:spcAft>
            </a:pPr>
            <a:r>
              <a:rPr dirty="0"/>
              <a:t>Power issues: pre-flight voltage check, spare battery.</a:t>
            </a:r>
          </a:p>
          <a:p>
            <a:pPr>
              <a:spcAft>
                <a:spcPts val="600"/>
              </a:spcAft>
            </a:pPr>
            <a:r>
              <a:rPr dirty="0"/>
              <a:t>Weight excess: lightweight Styrofoam and compact components.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dirty="0"/>
              <a:t>Meets all IIST </a:t>
            </a:r>
            <a:r>
              <a:rPr dirty="0" err="1"/>
              <a:t>CanSat</a:t>
            </a:r>
            <a:r>
              <a:rPr dirty="0"/>
              <a:t> 2025 constraints and mission goals.</a:t>
            </a:r>
          </a:p>
          <a:p>
            <a:pPr>
              <a:spcAft>
                <a:spcPts val="600"/>
              </a:spcAft>
            </a:pPr>
            <a:r>
              <a:rPr dirty="0"/>
              <a:t>Stable, lightweight, modular, and fully testable design.</a:t>
            </a:r>
          </a:p>
          <a:p>
            <a:pPr>
              <a:spcAft>
                <a:spcPts val="600"/>
              </a:spcAft>
            </a:pPr>
            <a:r>
              <a:rPr dirty="0"/>
              <a:t>Ensures reliable descent, video capture, and data logging.</a:t>
            </a:r>
          </a:p>
          <a:p>
            <a:pPr>
              <a:spcAft>
                <a:spcPts val="600"/>
              </a:spcAft>
            </a:pPr>
            <a:r>
              <a:rPr dirty="0"/>
              <a:t>Next steps: integrate prototype and perform live drop 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863</Words>
  <Application>Microsoft Office PowerPoint</Application>
  <PresentationFormat>On-screen Show (4:3)</PresentationFormat>
  <Paragraphs>114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CanSat 2025 Design Presentation</vt:lpstr>
      <vt:lpstr>Mission Overview</vt:lpstr>
      <vt:lpstr>System Architecture</vt:lpstr>
      <vt:lpstr>Mechanical Design</vt:lpstr>
      <vt:lpstr>PowerPoint Presentation</vt:lpstr>
      <vt:lpstr>Payload Section - Camera &amp; Isolation</vt:lpstr>
      <vt:lpstr>PowerPoint Presentation</vt:lpstr>
      <vt:lpstr>Electronics Section</vt:lpstr>
      <vt:lpstr>PowerPoint Presentation</vt:lpstr>
      <vt:lpstr>Parachute Section</vt:lpstr>
      <vt:lpstr>Software Flow</vt:lpstr>
      <vt:lpstr>Simulation Results (OpenRocket)</vt:lpstr>
      <vt:lpstr>PowerPoint Presentation</vt:lpstr>
      <vt:lpstr>Testing Plan</vt:lpstr>
      <vt:lpstr>Risk Analysis &amp; Mitigation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AMOGH SHARMA - 240932200 - MITMPL</cp:lastModifiedBy>
  <cp:revision>4</cp:revision>
  <dcterms:created xsi:type="dcterms:W3CDTF">2013-01-27T09:14:16Z</dcterms:created>
  <dcterms:modified xsi:type="dcterms:W3CDTF">2025-10-12T14:27:24Z</dcterms:modified>
  <cp:category/>
</cp:coreProperties>
</file>